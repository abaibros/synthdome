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0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26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sh_1014@naver.com" userId="6a9700b362fe8bc6" providerId="LiveId" clId="{57F12C97-F5D1-48BF-9848-3639B8AA1A7B}"/>
    <pc:docChg chg="delSld modSld">
      <pc:chgData name="songsh_1014@naver.com" userId="6a9700b362fe8bc6" providerId="LiveId" clId="{57F12C97-F5D1-48BF-9848-3639B8AA1A7B}" dt="2026-02-24T05:41:07.713" v="1" actId="2696"/>
      <pc:docMkLst>
        <pc:docMk/>
      </pc:docMkLst>
      <pc:sldChg chg="del">
        <pc:chgData name="songsh_1014@naver.com" userId="6a9700b362fe8bc6" providerId="LiveId" clId="{57F12C97-F5D1-48BF-9848-3639B8AA1A7B}" dt="2026-02-24T05:41:07.713" v="1" actId="2696"/>
        <pc:sldMkLst>
          <pc:docMk/>
          <pc:sldMk cId="0" sldId="258"/>
        </pc:sldMkLst>
      </pc:sldChg>
      <pc:sldChg chg="modSp mod">
        <pc:chgData name="songsh_1014@naver.com" userId="6a9700b362fe8bc6" providerId="LiveId" clId="{57F12C97-F5D1-48BF-9848-3639B8AA1A7B}" dt="2026-02-11T02:38:22.499" v="0" actId="2711"/>
        <pc:sldMkLst>
          <pc:docMk/>
          <pc:sldMk cId="0" sldId="264"/>
        </pc:sldMkLst>
        <pc:spChg chg="mod">
          <ac:chgData name="songsh_1014@naver.com" userId="6a9700b362fe8bc6" providerId="LiveId" clId="{57F12C97-F5D1-48BF-9848-3639B8AA1A7B}" dt="2026-02-11T02:38:22.499" v="0" actId="2711"/>
          <ac:spMkLst>
            <pc:docMk/>
            <pc:sldMk cId="0" sldId="264"/>
            <ac:spMk id="7" creationId="{00000000-0000-0000-0000-000000000000}"/>
          </ac:spMkLst>
        </pc:spChg>
        <pc:spChg chg="mod">
          <ac:chgData name="songsh_1014@naver.com" userId="6a9700b362fe8bc6" providerId="LiveId" clId="{57F12C97-F5D1-48BF-9848-3639B8AA1A7B}" dt="2026-02-11T02:38:22.499" v="0" actId="2711"/>
          <ac:spMkLst>
            <pc:docMk/>
            <pc:sldMk cId="0" sldId="264"/>
            <ac:spMk id="11" creationId="{00000000-0000-0000-0000-000000000000}"/>
          </ac:spMkLst>
        </pc:spChg>
        <pc:spChg chg="mod">
          <ac:chgData name="songsh_1014@naver.com" userId="6a9700b362fe8bc6" providerId="LiveId" clId="{57F12C97-F5D1-48BF-9848-3639B8AA1A7B}" dt="2026-02-11T02:38:22.499" v="0" actId="2711"/>
          <ac:spMkLst>
            <pc:docMk/>
            <pc:sldMk cId="0" sldId="264"/>
            <ac:spMk id="14" creationId="{00000000-0000-0000-0000-000000000000}"/>
          </ac:spMkLst>
        </pc:spChg>
        <pc:spChg chg="mod">
          <ac:chgData name="songsh_1014@naver.com" userId="6a9700b362fe8bc6" providerId="LiveId" clId="{57F12C97-F5D1-48BF-9848-3639B8AA1A7B}" dt="2026-02-11T02:38:22.499" v="0" actId="2711"/>
          <ac:spMkLst>
            <pc:docMk/>
            <pc:sldMk cId="0" sldId="264"/>
            <ac:spMk id="16" creationId="{00000000-0000-0000-0000-000000000000}"/>
          </ac:spMkLst>
        </pc:spChg>
        <pc:spChg chg="mod">
          <ac:chgData name="songsh_1014@naver.com" userId="6a9700b362fe8bc6" providerId="LiveId" clId="{57F12C97-F5D1-48BF-9848-3639B8AA1A7B}" dt="2026-02-11T02:38:22.499" v="0" actId="2711"/>
          <ac:spMkLst>
            <pc:docMk/>
            <pc:sldMk cId="0" sldId="264"/>
            <ac:spMk id="17" creationId="{00000000-0000-0000-0000-000000000000}"/>
          </ac:spMkLst>
        </pc:spChg>
        <pc:spChg chg="mod">
          <ac:chgData name="songsh_1014@naver.com" userId="6a9700b362fe8bc6" providerId="LiveId" clId="{57F12C97-F5D1-48BF-9848-3639B8AA1A7B}" dt="2026-02-11T02:38:22.499" v="0" actId="2711"/>
          <ac:spMkLst>
            <pc:docMk/>
            <pc:sldMk cId="0" sldId="264"/>
            <ac:spMk id="21" creationId="{00000000-0000-0000-0000-000000000000}"/>
          </ac:spMkLst>
        </pc:spChg>
        <pc:spChg chg="mod">
          <ac:chgData name="songsh_1014@naver.com" userId="6a9700b362fe8bc6" providerId="LiveId" clId="{57F12C97-F5D1-48BF-9848-3639B8AA1A7B}" dt="2026-02-11T02:38:22.499" v="0" actId="2711"/>
          <ac:spMkLst>
            <pc:docMk/>
            <pc:sldMk cId="0" sldId="264"/>
            <ac:spMk id="27" creationId="{00000000-0000-0000-0000-000000000000}"/>
          </ac:spMkLst>
        </pc:spChg>
        <pc:spChg chg="mod">
          <ac:chgData name="songsh_1014@naver.com" userId="6a9700b362fe8bc6" providerId="LiveId" clId="{57F12C97-F5D1-48BF-9848-3639B8AA1A7B}" dt="2026-02-11T02:38:22.499" v="0" actId="2711"/>
          <ac:spMkLst>
            <pc:docMk/>
            <pc:sldMk cId="0" sldId="264"/>
            <ac:spMk id="29" creationId="{00000000-0000-0000-0000-000000000000}"/>
          </ac:spMkLst>
        </pc:spChg>
        <pc:spChg chg="mod">
          <ac:chgData name="songsh_1014@naver.com" userId="6a9700b362fe8bc6" providerId="LiveId" clId="{57F12C97-F5D1-48BF-9848-3639B8AA1A7B}" dt="2026-02-11T02:38:22.499" v="0" actId="2711"/>
          <ac:spMkLst>
            <pc:docMk/>
            <pc:sldMk cId="0" sldId="264"/>
            <ac:spMk id="30" creationId="{00000000-0000-0000-0000-000000000000}"/>
          </ac:spMkLst>
        </pc:spChg>
        <pc:spChg chg="mod">
          <ac:chgData name="songsh_1014@naver.com" userId="6a9700b362fe8bc6" providerId="LiveId" clId="{57F12C97-F5D1-48BF-9848-3639B8AA1A7B}" dt="2026-02-11T02:38:22.499" v="0" actId="2711"/>
          <ac:spMkLst>
            <pc:docMk/>
            <pc:sldMk cId="0" sldId="264"/>
            <ac:spMk id="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777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e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jpe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6.jpe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27148" r="27148"/>
          <a:stretch/>
        </p:blipFill>
        <p:spPr>
          <a:xfrm>
            <a:off x="6705295" y="0"/>
            <a:ext cx="5486400" cy="68580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571500" y="761695"/>
            <a:ext cx="906755" cy="4571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1500" y="1086307"/>
            <a:ext cx="5753405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300" b="1" kern="0" spc="-15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SynthDome</a:t>
            </a:r>
            <a:endParaRPr lang="en-US" sz="6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571500" y="2194560"/>
            <a:ext cx="5662879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2000" dirty="0" err="1">
                <a:solidFill>
                  <a:srgbClr val="A0A0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신스돔</a:t>
            </a:r>
            <a:endParaRPr lang="en-US" altLang="ko-KR" sz="2000" dirty="0">
              <a:solidFill>
                <a:srgbClr val="A0A0A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endParaRPr lang="en-US" altLang="ko-KR" sz="2000" dirty="0">
              <a:solidFill>
                <a:srgbClr val="A0A0A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ko-KR" altLang="en-US" sz="2000" dirty="0">
                <a:solidFill>
                  <a:srgbClr val="A0A0A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몰입형 회복 환경 시스템</a:t>
            </a:r>
            <a:endParaRPr lang="en-US" altLang="ko-KR" sz="2000" dirty="0">
              <a:solidFill>
                <a:srgbClr val="A0A0A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71500" y="5333695"/>
            <a:ext cx="5562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571500" y="5629046"/>
            <a:ext cx="17721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CD7F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Document Type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71500" y="5867705"/>
            <a:ext cx="20180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&amp; Investor Relations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647188" y="5629046"/>
            <a:ext cx="667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CD7F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2647188" y="5867705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Q1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612794" y="5629046"/>
            <a:ext cx="1410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CD7F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Confidentiality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3612794" y="5867705"/>
            <a:ext cx="15169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Strictly Private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495" y="0"/>
            <a:ext cx="7315200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47995" y="754380"/>
            <a:ext cx="311078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기존 솔루션의 </a:t>
            </a:r>
            <a:r>
              <a:rPr lang="en-US" sz="18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구조적 한계</a:t>
            </a:r>
            <a:endParaRPr 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408615" y="926143"/>
            <a:ext cx="1047902" cy="247802"/>
          </a:xfrm>
          <a:prstGeom prst="rect">
            <a:avLst/>
          </a:prstGeom>
          <a:noFill/>
          <a:ln w="12700">
            <a:solidFill>
              <a:srgbClr val="37415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Failure Analysis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7451" y="1459382"/>
            <a:ext cx="19202" cy="436260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20" r="-20"/>
          <a:stretch/>
        </p:blipFill>
        <p:spPr>
          <a:xfrm>
            <a:off x="5639105" y="4927702"/>
            <a:ext cx="5982005" cy="1175918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436" r="-436"/>
          <a:stretch/>
        </p:blipFill>
        <p:spPr>
          <a:xfrm>
            <a:off x="5867705" y="4727448"/>
            <a:ext cx="19202" cy="20939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838444" y="4860950"/>
            <a:ext cx="75895" cy="75895"/>
          </a:xfrm>
          <a:prstGeom prst="ellipse">
            <a:avLst/>
          </a:prstGeom>
          <a:solidFill>
            <a:srgbClr val="CD7F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876849" y="5248656"/>
            <a:ext cx="533095" cy="533095"/>
          </a:xfrm>
          <a:prstGeom prst="roundRect">
            <a:avLst>
              <a:gd name="adj" fmla="val 36756"/>
            </a:avLst>
          </a:prstGeom>
          <a:solidFill>
            <a:srgbClr val="CD7F3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CD7F32">
                <a:alpha val="3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29554" y="5401361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638544" y="5165446"/>
            <a:ext cx="34582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Neurological Fact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6638544" y="5394046"/>
            <a:ext cx="34198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인간의 뇌는 </a:t>
            </a:r>
            <a:r>
              <a:rPr lang="en-US" sz="1300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'안전한 환경'</a:t>
            </a:r>
            <a:r>
              <a:rPr lang="en-US" sz="13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인식하지 않으면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회복 메커니즘이 작동하지 않습니다. 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5639105" y="1363370"/>
            <a:ext cx="5982005" cy="1000354"/>
          </a:xfrm>
          <a:prstGeom prst="roundRect">
            <a:avLst>
              <a:gd name="adj" fmla="val 5223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5639105" y="1363370"/>
            <a:ext cx="28346" cy="1000354"/>
          </a:xfrm>
          <a:prstGeom prst="roundRect">
            <a:avLst>
              <a:gd name="adj" fmla="val 184334"/>
            </a:avLst>
          </a:prstGeom>
          <a:solidFill>
            <a:srgbClr val="555555"/>
          </a:solidFill>
          <a:ln w="12700">
            <a:solidFill>
              <a:srgbClr val="5555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6143854" y="1525219"/>
            <a:ext cx="54681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모바일 앱 &amp; 웨어러블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6143854" y="1815084"/>
            <a:ext cx="535381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주변 소음과 빛 등 </a:t>
            </a:r>
            <a:r>
              <a:rPr lang="en-US" sz="1000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외부 환경 통제 불가</a:t>
            </a:r>
            <a:r>
              <a:rPr lang="en-US" sz="1000" dirty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사용자가 스스로 집중해야 하므로 지속적 효과 미비. 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10346436" y="1525219"/>
            <a:ext cx="1172261" cy="219456"/>
          </a:xfrm>
          <a:prstGeom prst="rect">
            <a:avLst/>
          </a:prstGeom>
          <a:noFill/>
          <a:ln w="12700">
            <a:solidFill>
              <a:srgbClr val="44444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8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Control Failed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362956" y="1671523"/>
            <a:ext cx="381305" cy="381305"/>
          </a:xfrm>
          <a:prstGeom prst="ellipse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5495544" y="1785823"/>
            <a:ext cx="114300" cy="152705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600700" y="1910182"/>
            <a:ext cx="152705" cy="152705"/>
          </a:xfrm>
          <a:prstGeom prst="ellipse">
            <a:avLst/>
          </a:prstGeom>
          <a:solidFill>
            <a:srgbClr val="2A2A2A"/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l="-1773" r="-1773"/>
          <a:stretch/>
        </p:blipFill>
        <p:spPr>
          <a:xfrm>
            <a:off x="5643677" y="1943100"/>
            <a:ext cx="66751" cy="85954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5639105" y="2552090"/>
            <a:ext cx="5982005" cy="1000354"/>
          </a:xfrm>
          <a:prstGeom prst="roundRect">
            <a:avLst>
              <a:gd name="adj" fmla="val 5223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5639105" y="2552090"/>
            <a:ext cx="28346" cy="1000354"/>
          </a:xfrm>
          <a:prstGeom prst="roundRect">
            <a:avLst>
              <a:gd name="adj" fmla="val 184334"/>
            </a:avLst>
          </a:prstGeom>
          <a:solidFill>
            <a:srgbClr val="555555"/>
          </a:solidFill>
          <a:ln w="12700">
            <a:solidFill>
              <a:srgbClr val="5555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6143854" y="2713939"/>
            <a:ext cx="54681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약물 &amp; 심리 상담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6143854" y="3002890"/>
            <a:ext cx="535381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부작용</a:t>
            </a:r>
            <a:r>
              <a:rPr lang="en-US" sz="1000" dirty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우려 및 높은 비용.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일상적 회복(Daily Recovery)</a:t>
            </a:r>
            <a:r>
              <a:rPr lang="en-US" sz="1000" dirty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수단으로 활용 한계. 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10435133" y="2713939"/>
            <a:ext cx="1086307" cy="219456"/>
          </a:xfrm>
          <a:prstGeom prst="rect">
            <a:avLst/>
          </a:prstGeom>
          <a:noFill/>
          <a:ln w="12700">
            <a:solidFill>
              <a:srgbClr val="44444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8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Access Failed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5362956" y="2860243"/>
            <a:ext cx="381305" cy="381305"/>
          </a:xfrm>
          <a:prstGeom prst="ellipse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5467198" y="2974543"/>
            <a:ext cx="171907" cy="152705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5600700" y="3097987"/>
            <a:ext cx="152705" cy="152705"/>
          </a:xfrm>
          <a:prstGeom prst="ellipse">
            <a:avLst/>
          </a:prstGeom>
          <a:solidFill>
            <a:srgbClr val="2A2A2A"/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rcRect l="-1773" r="-1773"/>
          <a:stretch/>
        </p:blipFill>
        <p:spPr>
          <a:xfrm>
            <a:off x="5643677" y="3130906"/>
            <a:ext cx="66751" cy="85954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5639105" y="3739896"/>
            <a:ext cx="5982005" cy="1000354"/>
          </a:xfrm>
          <a:prstGeom prst="roundRect">
            <a:avLst>
              <a:gd name="adj" fmla="val 5223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Shape 25"/>
          <p:cNvSpPr/>
          <p:nvPr/>
        </p:nvSpPr>
        <p:spPr>
          <a:xfrm>
            <a:off x="5639105" y="3739896"/>
            <a:ext cx="28346" cy="1000354"/>
          </a:xfrm>
          <a:prstGeom prst="roundRect">
            <a:avLst>
              <a:gd name="adj" fmla="val 184334"/>
            </a:avLst>
          </a:prstGeom>
          <a:solidFill>
            <a:srgbClr val="555555"/>
          </a:solidFill>
          <a:ln w="12700">
            <a:solidFill>
              <a:srgbClr val="5555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26"/>
          <p:cNvSpPr txBox="1"/>
          <p:nvPr/>
        </p:nvSpPr>
        <p:spPr>
          <a:xfrm>
            <a:off x="6143854" y="3901745"/>
            <a:ext cx="54681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F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단순 명상 콘텐츠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27"/>
          <p:cNvSpPr txBox="1"/>
          <p:nvPr/>
        </p:nvSpPr>
        <p:spPr>
          <a:xfrm>
            <a:off x="6143854" y="4190695"/>
            <a:ext cx="535381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뇌가 '불안전하다'고 느끼는 공간에서는 효과 반감.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안정감은 </a:t>
            </a:r>
            <a:r>
              <a:rPr lang="en-US" sz="1000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콘텐츠가 아닌 환경</a:t>
            </a:r>
            <a:r>
              <a:rPr lang="en-US" sz="1000" dirty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발생. 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28"/>
          <p:cNvSpPr txBox="1"/>
          <p:nvPr/>
        </p:nvSpPr>
        <p:spPr>
          <a:xfrm>
            <a:off x="10459822" y="3901745"/>
            <a:ext cx="1057961" cy="219456"/>
          </a:xfrm>
          <a:prstGeom prst="rect">
            <a:avLst/>
          </a:prstGeom>
          <a:noFill/>
          <a:ln w="12700">
            <a:solidFill>
              <a:srgbClr val="44444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8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Effect Failed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Shape 29"/>
          <p:cNvSpPr/>
          <p:nvPr/>
        </p:nvSpPr>
        <p:spPr>
          <a:xfrm>
            <a:off x="5362956" y="4048049"/>
            <a:ext cx="381305" cy="381305"/>
          </a:xfrm>
          <a:prstGeom prst="ellipse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5467198" y="4162349"/>
            <a:ext cx="171907" cy="152705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5600700" y="4285793"/>
            <a:ext cx="152705" cy="152705"/>
          </a:xfrm>
          <a:prstGeom prst="ellipse">
            <a:avLst/>
          </a:prstGeom>
          <a:solidFill>
            <a:srgbClr val="2A2A2A"/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7"/>
          <a:srcRect l="-1773" r="-1773"/>
          <a:stretch/>
        </p:blipFill>
        <p:spPr>
          <a:xfrm>
            <a:off x="5643677" y="4319626"/>
            <a:ext cx="66751" cy="85954"/>
          </a:xfrm>
          <a:prstGeom prst="rect">
            <a:avLst/>
          </a:prstGeom>
        </p:spPr>
      </p:pic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0"/>
          <a:srcRect t="-3" b="-3"/>
          <a:stretch/>
        </p:blipFill>
        <p:spPr>
          <a:xfrm>
            <a:off x="0" y="0"/>
            <a:ext cx="4876495" cy="6858000"/>
          </a:xfrm>
          <a:prstGeom prst="rect">
            <a:avLst/>
          </a:prstGeom>
        </p:spPr>
      </p:pic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1"/>
          <a:srcRect l="-2029" r="-2029"/>
          <a:stretch/>
        </p:blipFill>
        <p:spPr>
          <a:xfrm>
            <a:off x="476402" y="547726"/>
            <a:ext cx="304495" cy="9144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895198" y="476402"/>
            <a:ext cx="1524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Why SynthDome Exists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Text 32"/>
          <p:cNvSpPr txBox="1"/>
          <p:nvPr/>
        </p:nvSpPr>
        <p:spPr>
          <a:xfrm>
            <a:off x="476402" y="705002"/>
            <a:ext cx="4071823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</a:t>
            </a:r>
            <a:r>
              <a:rPr lang="en-US" sz="4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실패가 만든</a:t>
            </a:r>
            <a:endParaRPr lang="en-US" sz="4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40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만성 스트레스</a:t>
            </a:r>
            <a:endParaRPr lang="en-US" sz="4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Shape 33"/>
          <p:cNvSpPr/>
          <p:nvPr/>
        </p:nvSpPr>
        <p:spPr>
          <a:xfrm>
            <a:off x="476402" y="2295144"/>
            <a:ext cx="3914546" cy="685800"/>
          </a:xfrm>
          <a:prstGeom prst="roundRect">
            <a:avLst>
              <a:gd name="adj" fmla="val 148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Shape 34"/>
          <p:cNvSpPr/>
          <p:nvPr/>
        </p:nvSpPr>
        <p:spPr>
          <a:xfrm>
            <a:off x="676656" y="2447849"/>
            <a:ext cx="381305" cy="381305"/>
          </a:xfrm>
          <a:prstGeom prst="ellipse">
            <a:avLst/>
          </a:prstGeom>
          <a:solidFill>
            <a:srgbClr val="CD7F3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80898" y="2553005"/>
            <a:ext cx="171907" cy="171907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1200607" y="2530145"/>
            <a:ext cx="1772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만성 스트레스 인구 비율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Text 36"/>
          <p:cNvSpPr txBox="1"/>
          <p:nvPr/>
        </p:nvSpPr>
        <p:spPr>
          <a:xfrm>
            <a:off x="3586277" y="2500884"/>
            <a:ext cx="6858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74%</a:t>
            </a:r>
            <a:endParaRPr lang="en-US" sz="2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Shape 37"/>
          <p:cNvSpPr/>
          <p:nvPr/>
        </p:nvSpPr>
        <p:spPr>
          <a:xfrm>
            <a:off x="476402" y="3209544"/>
            <a:ext cx="3914546" cy="685800"/>
          </a:xfrm>
          <a:prstGeom prst="roundRect">
            <a:avLst>
              <a:gd name="adj" fmla="val 148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Shape 38"/>
          <p:cNvSpPr/>
          <p:nvPr/>
        </p:nvSpPr>
        <p:spPr>
          <a:xfrm>
            <a:off x="676656" y="3362249"/>
            <a:ext cx="381305" cy="381305"/>
          </a:xfrm>
          <a:prstGeom prst="ellipse">
            <a:avLst/>
          </a:prstGeom>
          <a:solidFill>
            <a:srgbClr val="CD7F3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3"/>
          <a:srcRect t="-2222" b="-2222"/>
          <a:stretch/>
        </p:blipFill>
        <p:spPr>
          <a:xfrm>
            <a:off x="804672" y="3467405"/>
            <a:ext cx="123444" cy="171907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1200607" y="3444545"/>
            <a:ext cx="12316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수면 장애 유병률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Text 40"/>
          <p:cNvSpPr txBox="1"/>
          <p:nvPr/>
        </p:nvSpPr>
        <p:spPr>
          <a:xfrm>
            <a:off x="3586277" y="3415284"/>
            <a:ext cx="6858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68%</a:t>
            </a:r>
            <a:endParaRPr lang="en-US" sz="2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6" name="Shape 41"/>
          <p:cNvSpPr/>
          <p:nvPr/>
        </p:nvSpPr>
        <p:spPr>
          <a:xfrm>
            <a:off x="476402" y="4123944"/>
            <a:ext cx="3914546" cy="685800"/>
          </a:xfrm>
          <a:prstGeom prst="roundRect">
            <a:avLst>
              <a:gd name="adj" fmla="val 1481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Shape 42"/>
          <p:cNvSpPr/>
          <p:nvPr/>
        </p:nvSpPr>
        <p:spPr>
          <a:xfrm>
            <a:off x="676656" y="4276649"/>
            <a:ext cx="381305" cy="381305"/>
          </a:xfrm>
          <a:prstGeom prst="ellipse">
            <a:avLst/>
          </a:prstGeom>
          <a:solidFill>
            <a:srgbClr val="CD7F3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80898" y="4381805"/>
            <a:ext cx="171907" cy="171907"/>
          </a:xfrm>
          <a:prstGeom prst="rect">
            <a:avLst/>
          </a:prstGeom>
        </p:spPr>
      </p:pic>
      <p:sp>
        <p:nvSpPr>
          <p:cNvPr id="59" name="Text 43"/>
          <p:cNvSpPr txBox="1"/>
          <p:nvPr/>
        </p:nvSpPr>
        <p:spPr>
          <a:xfrm>
            <a:off x="1200607" y="4358945"/>
            <a:ext cx="1081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 요인 영향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Text 44"/>
          <p:cNvSpPr txBox="1"/>
          <p:nvPr/>
        </p:nvSpPr>
        <p:spPr>
          <a:xfrm>
            <a:off x="3586277" y="4329684"/>
            <a:ext cx="6858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83%</a:t>
            </a:r>
            <a:endParaRPr lang="en-US" sz="2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61" name="Image 14" descr="preencoded.png"/>
          <p:cNvPicPr>
            <a:picLocks noChangeAspect="1"/>
          </p:cNvPicPr>
          <p:nvPr/>
        </p:nvPicPr>
        <p:blipFill>
          <a:blip r:embed="rId15"/>
          <a:srcRect l="-3" r="-3"/>
          <a:stretch/>
        </p:blipFill>
        <p:spPr>
          <a:xfrm>
            <a:off x="476402" y="5229454"/>
            <a:ext cx="3914546" cy="1238098"/>
          </a:xfrm>
          <a:prstGeom prst="rect">
            <a:avLst/>
          </a:prstGeom>
        </p:spPr>
      </p:pic>
      <p:sp>
        <p:nvSpPr>
          <p:cNvPr id="62" name="Shape 45"/>
          <p:cNvSpPr/>
          <p:nvPr/>
        </p:nvSpPr>
        <p:spPr>
          <a:xfrm>
            <a:off x="705002" y="5086807"/>
            <a:ext cx="286207" cy="286207"/>
          </a:xfrm>
          <a:prstGeom prst="ellipse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63" name="Image 15" descr="preencoded.png"/>
          <p:cNvPicPr>
            <a:picLocks noChangeAspect="1"/>
          </p:cNvPicPr>
          <p:nvPr/>
        </p:nvPicPr>
        <p:blipFill>
          <a:blip r:embed="rId16"/>
          <a:srcRect l="-1082" r="-1082"/>
          <a:stretch/>
        </p:blipFill>
        <p:spPr>
          <a:xfrm>
            <a:off x="767182" y="5138928"/>
            <a:ext cx="161849" cy="181051"/>
          </a:xfrm>
          <a:prstGeom prst="rect">
            <a:avLst/>
          </a:prstGeom>
        </p:spPr>
      </p:pic>
      <p:sp>
        <p:nvSpPr>
          <p:cNvPr id="64" name="Text 46"/>
          <p:cNvSpPr txBox="1"/>
          <p:nvPr/>
        </p:nvSpPr>
        <p:spPr>
          <a:xfrm>
            <a:off x="752551" y="5467198"/>
            <a:ext cx="34774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D1D5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"스트레스와 수면 문제는 개인의 의지 부족이 아니라 </a:t>
            </a:r>
            <a:r>
              <a:rPr lang="en-US" sz="1200" i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 통제의 실패</a:t>
            </a:r>
            <a:r>
              <a:rPr lang="en-US" sz="1200" i="1" dirty="0">
                <a:solidFill>
                  <a:srgbClr val="D1D5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입니다." 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Text 47"/>
          <p:cNvSpPr txBox="1"/>
          <p:nvPr/>
        </p:nvSpPr>
        <p:spPr>
          <a:xfrm>
            <a:off x="638251" y="6077102"/>
            <a:ext cx="35149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Neuro-Architecture Research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93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6593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593"/>
            <a:ext cx="7077456" cy="6858000"/>
          </a:xfrm>
          <a:prstGeom prst="rect">
            <a:avLst/>
          </a:prstGeom>
          <a:solidFill>
            <a:srgbClr val="0F0F0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068312" y="6593"/>
            <a:ext cx="9144" cy="68580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50" r="50"/>
          <a:stretch/>
        </p:blipFill>
        <p:spPr>
          <a:xfrm>
            <a:off x="352958" y="1620509"/>
            <a:ext cx="6362395" cy="363839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0" y="6593"/>
            <a:ext cx="7061911" cy="6858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6207" y="292800"/>
            <a:ext cx="190195" cy="1920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5"/>
          <p:cNvSpPr/>
          <p:nvPr/>
        </p:nvSpPr>
        <p:spPr>
          <a:xfrm>
            <a:off x="286207" y="292800"/>
            <a:ext cx="19202" cy="190195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585509" y="6560098"/>
            <a:ext cx="190195" cy="1920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756502" y="6388191"/>
            <a:ext cx="19202" cy="190195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78147" y="2201153"/>
            <a:ext cx="114300" cy="1143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587545" y="2125258"/>
            <a:ext cx="1057046" cy="247802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9"/>
          <p:cNvSpPr/>
          <p:nvPr/>
        </p:nvSpPr>
        <p:spPr>
          <a:xfrm>
            <a:off x="4587545" y="2125258"/>
            <a:ext cx="1057961" cy="247802"/>
          </a:xfrm>
          <a:prstGeom prst="rect">
            <a:avLst/>
          </a:prstGeom>
          <a:solidFill>
            <a:srgbClr val="121212">
              <a:alpha val="80000"/>
            </a:srgbClr>
          </a:solidFill>
          <a:ln w="38100">
            <a:solidFill>
              <a:srgbClr val="CD7F3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E5E5">
                    <a:alpha val="80000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Acoustic Dome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77540" y="3778493"/>
            <a:ext cx="114300" cy="1143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386938" y="3702598"/>
            <a:ext cx="857707" cy="247802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3386938" y="3702598"/>
            <a:ext cx="857707" cy="247802"/>
          </a:xfrm>
          <a:prstGeom prst="rect">
            <a:avLst/>
          </a:prstGeom>
          <a:solidFill>
            <a:srgbClr val="121212">
              <a:alpha val="80000"/>
            </a:srgbClr>
          </a:solidFill>
          <a:ln w="38100">
            <a:solidFill>
              <a:srgbClr val="CD7F3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E5E5">
                    <a:alpha val="80000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45° Recline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95598" y="3092693"/>
            <a:ext cx="114300" cy="1143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304995" y="3016798"/>
            <a:ext cx="1238098" cy="247802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4304995" y="3016798"/>
            <a:ext cx="1239012" cy="247802"/>
          </a:xfrm>
          <a:prstGeom prst="rect">
            <a:avLst/>
          </a:prstGeom>
          <a:solidFill>
            <a:srgbClr val="121212">
              <a:alpha val="80000"/>
            </a:srgbClr>
          </a:solidFill>
          <a:ln w="38100">
            <a:solidFill>
              <a:srgbClr val="CD7F3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5E5E5">
                    <a:alpha val="80000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Immersion Screen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rcRect l="-1" r="-1"/>
          <a:stretch/>
        </p:blipFill>
        <p:spPr>
          <a:xfrm>
            <a:off x="7071055" y="6593"/>
            <a:ext cx="5120640" cy="68580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547458" y="987744"/>
            <a:ext cx="44769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콘텐츠가 아닌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15"/>
          <p:cNvSpPr txBox="1"/>
          <p:nvPr/>
        </p:nvSpPr>
        <p:spPr>
          <a:xfrm>
            <a:off x="7547458" y="1422084"/>
            <a:ext cx="44769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환경을 설계하다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7547458" y="5893500"/>
            <a:ext cx="4172407" cy="400507"/>
          </a:xfrm>
          <a:prstGeom prst="roundRect">
            <a:avLst>
              <a:gd name="adj" fmla="val 21744"/>
            </a:avLst>
          </a:prstGeom>
          <a:solidFill>
            <a:srgbClr val="CD7F32">
              <a:alpha val="10000"/>
            </a:srgbClr>
          </a:solidFill>
          <a:ln w="12700">
            <a:solidFill>
              <a:srgbClr val="CD7F3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7709306" y="6016944"/>
            <a:ext cx="133502" cy="15270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957109" y="5893500"/>
            <a:ext cx="2667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다목적 활용:</a:t>
            </a:r>
            <a:r>
              <a:rPr lang="en-US" sz="900" dirty="0">
                <a:solidFill>
                  <a:srgbClr val="D1D5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명상 · 스트레스 회복 · 수면 전환 솔루션 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18"/>
          <p:cNvSpPr/>
          <p:nvPr/>
        </p:nvSpPr>
        <p:spPr>
          <a:xfrm>
            <a:off x="7547458" y="826810"/>
            <a:ext cx="1533449" cy="9144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19"/>
          <p:cNvSpPr txBox="1"/>
          <p:nvPr/>
        </p:nvSpPr>
        <p:spPr>
          <a:xfrm>
            <a:off x="7547458" y="616498"/>
            <a:ext cx="1610258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SOLUTION OVERVIEW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7547458" y="2236815"/>
            <a:ext cx="4172407" cy="1028700"/>
          </a:xfrm>
          <a:prstGeom prst="roundRect">
            <a:avLst>
              <a:gd name="adj" fmla="val 329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Shape 21"/>
          <p:cNvSpPr/>
          <p:nvPr/>
        </p:nvSpPr>
        <p:spPr>
          <a:xfrm>
            <a:off x="7547458" y="2236815"/>
            <a:ext cx="28346" cy="1009498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22"/>
          <p:cNvSpPr/>
          <p:nvPr/>
        </p:nvSpPr>
        <p:spPr>
          <a:xfrm>
            <a:off x="7747711" y="2437068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CD7F32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804404" y="2494675"/>
            <a:ext cx="114300" cy="1143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090611" y="2437068"/>
            <a:ext cx="27907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대형 돔(Dome) 구조의 물리적 차단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24"/>
          <p:cNvSpPr txBox="1"/>
          <p:nvPr/>
        </p:nvSpPr>
        <p:spPr>
          <a:xfrm>
            <a:off x="7747711" y="2742478"/>
            <a:ext cx="38487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시야, 소음, 빛 등 외부 자극을 물리적으로 99.9% 차단하여 뇌가 경계 </a:t>
            </a:r>
            <a:r>
              <a:rPr lang="en-US" sz="900" dirty="0" err="1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태세를</a:t>
            </a:r>
            <a:r>
              <a:rPr lang="en-US" sz="9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marL="0" indent="0" algn="l">
              <a:buNone/>
            </a:pPr>
            <a:r>
              <a:rPr lang="en-US" sz="900" dirty="0" err="1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해제할</a:t>
            </a:r>
            <a:r>
              <a:rPr lang="en-US" sz="9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수 있는 '안전 지대'를 형성합니다.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25"/>
          <p:cNvSpPr/>
          <p:nvPr/>
        </p:nvSpPr>
        <p:spPr>
          <a:xfrm>
            <a:off x="7547458" y="3455710"/>
            <a:ext cx="4172407" cy="1028700"/>
          </a:xfrm>
          <a:prstGeom prst="roundRect">
            <a:avLst>
              <a:gd name="adj" fmla="val 329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7547458" y="3455710"/>
            <a:ext cx="28346" cy="1009498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Shape 27"/>
          <p:cNvSpPr/>
          <p:nvPr/>
        </p:nvSpPr>
        <p:spPr>
          <a:xfrm>
            <a:off x="7747711" y="3655963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CD7F32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9"/>
          <a:srcRect l="-2571" r="-2571"/>
          <a:stretch/>
        </p:blipFill>
        <p:spPr>
          <a:xfrm>
            <a:off x="7809890" y="3712656"/>
            <a:ext cx="105156" cy="11430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8090611" y="3655963"/>
            <a:ext cx="2414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45도 리클라인 (Zero-Gravity)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29"/>
          <p:cNvSpPr txBox="1"/>
          <p:nvPr/>
        </p:nvSpPr>
        <p:spPr>
          <a:xfrm>
            <a:off x="7747711" y="3960459"/>
            <a:ext cx="38487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심장과 다리의 높이를 맞추고 척추 압력을 최소화하는 </a:t>
            </a:r>
            <a:r>
              <a:rPr lang="en-US" sz="900" dirty="0" err="1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각도로</a:t>
            </a:r>
            <a:r>
              <a:rPr lang="en-US" sz="9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pPr marL="0" indent="0" algn="l">
              <a:buNone/>
            </a:pPr>
            <a:r>
              <a:rPr lang="en-US" sz="900" dirty="0" err="1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각성도는</a:t>
            </a:r>
            <a:r>
              <a:rPr lang="en-US" sz="9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유지하되 신체 긴장은 즉각적으로 이완시킵니다.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Shape 30"/>
          <p:cNvSpPr/>
          <p:nvPr/>
        </p:nvSpPr>
        <p:spPr>
          <a:xfrm>
            <a:off x="7547458" y="4674605"/>
            <a:ext cx="4172407" cy="1028700"/>
          </a:xfrm>
          <a:prstGeom prst="roundRect">
            <a:avLst>
              <a:gd name="adj" fmla="val 329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Shape 31"/>
          <p:cNvSpPr/>
          <p:nvPr/>
        </p:nvSpPr>
        <p:spPr>
          <a:xfrm>
            <a:off x="7547458" y="4674605"/>
            <a:ext cx="28346" cy="1009498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Shape 32"/>
          <p:cNvSpPr/>
          <p:nvPr/>
        </p:nvSpPr>
        <p:spPr>
          <a:xfrm>
            <a:off x="7747711" y="4874859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CD7F32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0"/>
          <a:srcRect l="-1911" r="-1911"/>
          <a:stretch/>
        </p:blipFill>
        <p:spPr>
          <a:xfrm>
            <a:off x="7795260" y="4931551"/>
            <a:ext cx="133502" cy="114300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090611" y="4874859"/>
            <a:ext cx="15937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감각 통합 몰입 설계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34"/>
          <p:cNvSpPr txBox="1"/>
          <p:nvPr/>
        </p:nvSpPr>
        <p:spPr>
          <a:xfrm>
            <a:off x="7747711" y="5179354"/>
            <a:ext cx="38487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단순 시각 자극이 아닌 소리, 빛, 공간 밀도를 통합 </a:t>
            </a:r>
            <a:r>
              <a:rPr lang="en-US" sz="900" dirty="0" err="1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설계하여</a:t>
            </a:r>
            <a:r>
              <a:rPr lang="en-US" sz="9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marL="0" indent="0" algn="l">
              <a:buNone/>
            </a:pPr>
            <a:r>
              <a:rPr lang="en-US" sz="900" dirty="0" err="1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웨어러블</a:t>
            </a:r>
            <a:r>
              <a:rPr lang="en-US" sz="9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기기로는 불가능한 '생리적 안정 환경'을 조성합니다.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6" b="-6"/>
          <a:stretch/>
        </p:blipFill>
        <p:spPr>
          <a:xfrm>
            <a:off x="4816145" y="780898"/>
            <a:ext cx="6613855" cy="32388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7312" b="7312"/>
          <a:stretch/>
        </p:blipFill>
        <p:spPr>
          <a:xfrm>
            <a:off x="4825289" y="790956"/>
            <a:ext cx="6601054" cy="321960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967935" y="3581705"/>
            <a:ext cx="2152498" cy="286207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3"/>
          <p:cNvSpPr/>
          <p:nvPr/>
        </p:nvSpPr>
        <p:spPr>
          <a:xfrm>
            <a:off x="5301691" y="3581705"/>
            <a:ext cx="1819656" cy="286207"/>
          </a:xfrm>
          <a:prstGeom prst="rect">
            <a:avLst/>
          </a:prstGeom>
          <a:solidFill>
            <a:srgbClr val="000000">
              <a:alpha val="80000"/>
            </a:srgbClr>
          </a:solidFill>
          <a:ln w="38100">
            <a:solidFill>
              <a:srgbClr val="CD7F3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Physical Immersion Architecture 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11496" y="3662172"/>
            <a:ext cx="114300" cy="1143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816145" y="4172407"/>
            <a:ext cx="2905049" cy="1904695"/>
          </a:xfrm>
          <a:prstGeom prst="roundRect">
            <a:avLst>
              <a:gd name="adj" fmla="val 2880"/>
            </a:avLst>
          </a:prstGeom>
          <a:solidFill>
            <a:srgbClr val="1A1A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6302" r="6302"/>
          <a:stretch/>
        </p:blipFill>
        <p:spPr>
          <a:xfrm>
            <a:off x="4825289" y="4181551"/>
            <a:ext cx="2885846" cy="1886407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4967935" y="5639105"/>
            <a:ext cx="1399946" cy="286207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6"/>
          <p:cNvSpPr/>
          <p:nvPr/>
        </p:nvSpPr>
        <p:spPr>
          <a:xfrm>
            <a:off x="5319979" y="5639105"/>
            <a:ext cx="1048817" cy="286207"/>
          </a:xfrm>
          <a:prstGeom prst="rect">
            <a:avLst/>
          </a:prstGeom>
          <a:solidFill>
            <a:srgbClr val="000000">
              <a:alpha val="80000"/>
            </a:srgbClr>
          </a:solidFill>
          <a:ln w="38100">
            <a:solidFill>
              <a:srgbClr val="CD7F3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Acoustic Isolation 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l="-1911" r="-1911"/>
          <a:stretch/>
        </p:blipFill>
        <p:spPr>
          <a:xfrm>
            <a:off x="5111496" y="5719572"/>
            <a:ext cx="133502" cy="11430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7872070" y="4172407"/>
            <a:ext cx="3562502" cy="1904695"/>
          </a:xfrm>
          <a:prstGeom prst="roundRect">
            <a:avLst>
              <a:gd name="adj" fmla="val 2880"/>
            </a:avLst>
          </a:prstGeom>
          <a:solidFill>
            <a:srgbClr val="1A1A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8"/>
          <p:cNvSpPr/>
          <p:nvPr/>
        </p:nvSpPr>
        <p:spPr>
          <a:xfrm>
            <a:off x="8071409" y="5119726"/>
            <a:ext cx="31619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9"/>
          <p:cNvSpPr txBox="1"/>
          <p:nvPr/>
        </p:nvSpPr>
        <p:spPr>
          <a:xfrm>
            <a:off x="8071409" y="4186123"/>
            <a:ext cx="32772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Field of View (FoV)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0"/>
          <p:cNvSpPr txBox="1"/>
          <p:nvPr/>
        </p:nvSpPr>
        <p:spPr>
          <a:xfrm>
            <a:off x="8071409" y="4395521"/>
            <a:ext cx="9793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180°+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1"/>
          <p:cNvSpPr txBox="1"/>
          <p:nvPr/>
        </p:nvSpPr>
        <p:spPr>
          <a:xfrm>
            <a:off x="9000439" y="4519879"/>
            <a:ext cx="90708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Full Immersion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2"/>
          <p:cNvSpPr txBox="1"/>
          <p:nvPr/>
        </p:nvSpPr>
        <p:spPr>
          <a:xfrm>
            <a:off x="8071409" y="4738421"/>
            <a:ext cx="3277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vs. ~100° (Standard VR/Wearable)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3"/>
          <p:cNvSpPr txBox="1"/>
          <p:nvPr/>
        </p:nvSpPr>
        <p:spPr>
          <a:xfrm>
            <a:off x="8071409" y="5357470"/>
            <a:ext cx="32772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Environmental Control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8071409" y="5624474"/>
            <a:ext cx="133502" cy="15270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281721" y="5605272"/>
            <a:ext cx="1484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100% Light Blocking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8071409" y="5891479"/>
            <a:ext cx="133502" cy="152705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281721" y="5872277"/>
            <a:ext cx="17117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Sound Dampening Shell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16"/>
          <p:cNvSpPr txBox="1"/>
          <p:nvPr/>
        </p:nvSpPr>
        <p:spPr>
          <a:xfrm>
            <a:off x="761695" y="129844"/>
            <a:ext cx="36960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Why Large Scale?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17"/>
          <p:cNvSpPr txBox="1"/>
          <p:nvPr/>
        </p:nvSpPr>
        <p:spPr>
          <a:xfrm>
            <a:off x="761695" y="400507"/>
            <a:ext cx="3710635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몰입의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깊이는</a:t>
            </a:r>
            <a:endParaRPr lang="en-US"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27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공간의 크기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</a:t>
            </a:r>
            <a:endParaRPr lang="en-US"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27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결정합니다</a:t>
            </a:r>
            <a:r>
              <a:rPr lang="en-US" sz="27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sz="27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18"/>
          <p:cNvSpPr/>
          <p:nvPr/>
        </p:nvSpPr>
        <p:spPr>
          <a:xfrm>
            <a:off x="761695" y="1990649"/>
            <a:ext cx="19202" cy="1171346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9"/>
          <a:srcRect l="-5319" r="-5319"/>
          <a:stretch/>
        </p:blipFill>
        <p:spPr>
          <a:xfrm>
            <a:off x="972007" y="2033626"/>
            <a:ext cx="190195" cy="171907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76502" y="1990649"/>
            <a:ext cx="225948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시야각(FoV)과 공간 인지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0"/>
          <p:cNvSpPr txBox="1"/>
          <p:nvPr/>
        </p:nvSpPr>
        <p:spPr>
          <a:xfrm>
            <a:off x="972007" y="2305202"/>
            <a:ext cx="344820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인간의 신경계는 공간의 크기와 깊이에 직접 반응합니다. 소형 기기의 좁은 시야각은 뇌가 '가상'임을 인지하게 하지만,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대형</a:t>
            </a: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돔은 시야를 완전히 </a:t>
            </a:r>
            <a:r>
              <a:rPr lang="en-US" sz="1100" dirty="0" err="1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장악하여</a:t>
            </a: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‘</a:t>
            </a:r>
            <a:r>
              <a:rPr lang="ko-KR" alt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</a:t>
            </a: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’로 착각하게 만듭니다.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761695" y="3390595"/>
            <a:ext cx="19202" cy="961949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0"/>
          <a:srcRect l="-5319" r="-5319"/>
          <a:stretch/>
        </p:blipFill>
        <p:spPr>
          <a:xfrm>
            <a:off x="972007" y="3433572"/>
            <a:ext cx="190195" cy="171907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1276502" y="3390595"/>
            <a:ext cx="15069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물리적 자극 차단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23"/>
          <p:cNvSpPr txBox="1"/>
          <p:nvPr/>
        </p:nvSpPr>
        <p:spPr>
          <a:xfrm>
            <a:off x="972007" y="3705149"/>
            <a:ext cx="34482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웨어러블 기기는 주변 빛과 소음을 완벽히 차단하지 못합니다. 신스돔은 물리적 쉘(Shell) 구조로 외부 자극을 원천 봉쇄하여 뇌의 경계 모드를 해제합니다.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24"/>
          <p:cNvSpPr/>
          <p:nvPr/>
        </p:nvSpPr>
        <p:spPr>
          <a:xfrm>
            <a:off x="761695" y="4576572"/>
            <a:ext cx="19202" cy="961949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1"/>
          <a:srcRect l="-5319" r="-5319"/>
          <a:stretch/>
        </p:blipFill>
        <p:spPr>
          <a:xfrm>
            <a:off x="972007" y="4619549"/>
            <a:ext cx="190195" cy="171907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1276502" y="4576572"/>
            <a:ext cx="234635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안전 신호(Safety Signal)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26"/>
          <p:cNvSpPr txBox="1"/>
          <p:nvPr/>
        </p:nvSpPr>
        <p:spPr>
          <a:xfrm>
            <a:off x="972007" y="4891126"/>
            <a:ext cx="34482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안정적인 대형 구조물 안에 위치할 때, 뇌는 본능적으로 보호받는다고 느낍니다. 이는 콘텐츠만으로는 줄 수 없는 원초적인 심리적 안정감을 제공합니다.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Shape 27"/>
          <p:cNvSpPr/>
          <p:nvPr/>
        </p:nvSpPr>
        <p:spPr>
          <a:xfrm>
            <a:off x="761695" y="6048756"/>
            <a:ext cx="35817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28"/>
          <p:cNvSpPr txBox="1"/>
          <p:nvPr/>
        </p:nvSpPr>
        <p:spPr>
          <a:xfrm>
            <a:off x="761695" y="6248095"/>
            <a:ext cx="36576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"신스돔의 효과는 콘텐츠가 아니라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1300" b="1" i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대형 몰입 구조 그 자체</a:t>
            </a:r>
            <a:r>
              <a:rPr lang="en-US" sz="1300" i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발생합니다." 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61695" y="476402"/>
            <a:ext cx="107826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Core Technology Architecture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61695" y="771754"/>
            <a:ext cx="10818266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신경계</a:t>
            </a:r>
            <a:r>
              <a:rPr lang="en-US" sz="31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안정을 위한</a:t>
            </a:r>
            <a:endParaRPr lang="en-US" sz="3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31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3단계 정밀 기술</a:t>
            </a:r>
            <a:endParaRPr lang="en-US" sz="3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1695" y="2017166"/>
            <a:ext cx="3409798" cy="4543654"/>
          </a:xfrm>
          <a:prstGeom prst="roundRect">
            <a:avLst>
              <a:gd name="adj" fmla="val 1199"/>
            </a:avLst>
          </a:prstGeom>
          <a:solidFill>
            <a:srgbClr val="1A1A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61695" y="2017166"/>
            <a:ext cx="3384194" cy="38405"/>
          </a:xfrm>
          <a:prstGeom prst="rect">
            <a:avLst/>
          </a:prstGeom>
          <a:solidFill>
            <a:srgbClr val="CD7F32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501238" y="2217420"/>
            <a:ext cx="5431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>
                    <a:alpha val="3000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00354" y="225582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CD7F3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842" b="-842"/>
          <a:stretch/>
        </p:blipFill>
        <p:spPr>
          <a:xfrm>
            <a:off x="1095451" y="2360066"/>
            <a:ext cx="190195" cy="17190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95044" y="2303374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물리적 안정 환경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00354" y="2827325"/>
            <a:ext cx="2933395" cy="1714500"/>
          </a:xfrm>
          <a:prstGeom prst="roundRect">
            <a:avLst>
              <a:gd name="adj" fmla="val 2370"/>
            </a:avLst>
          </a:prstGeom>
          <a:solidFill>
            <a:srgbClr val="0D0D0D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1586" r="-1586"/>
          <a:stretch/>
        </p:blipFill>
        <p:spPr>
          <a:xfrm>
            <a:off x="1009498" y="2836469"/>
            <a:ext cx="2915107" cy="169529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00354" y="4732020"/>
            <a:ext cx="3010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외부 소음과 빛을 구조적으로 차단하여 신경계가 경계 태세를 해제하는 '무자극 환경'을 조성합니다.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1000354" y="5608015"/>
            <a:ext cx="29333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1000354" y="5770778"/>
            <a:ext cx="1410005" cy="552298"/>
          </a:xfrm>
          <a:prstGeom prst="roundRect">
            <a:avLst>
              <a:gd name="adj" fmla="val 1712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1114654" y="5846674"/>
            <a:ext cx="1257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Sound Proof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1114654" y="6041441"/>
            <a:ext cx="1257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-35dB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2521001" y="5770778"/>
            <a:ext cx="1410005" cy="552298"/>
          </a:xfrm>
          <a:prstGeom prst="roundRect">
            <a:avLst>
              <a:gd name="adj" fmla="val 1712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2635301" y="5846674"/>
            <a:ext cx="1257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Dimming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7"/>
          <p:cNvSpPr txBox="1"/>
          <p:nvPr/>
        </p:nvSpPr>
        <p:spPr>
          <a:xfrm>
            <a:off x="2635301" y="6041441"/>
            <a:ext cx="1257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 ~ 100%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4394606" y="2017166"/>
            <a:ext cx="3409798" cy="4543654"/>
          </a:xfrm>
          <a:prstGeom prst="roundRect">
            <a:avLst>
              <a:gd name="adj" fmla="val 1199"/>
            </a:avLst>
          </a:prstGeom>
          <a:solidFill>
            <a:srgbClr val="1A1A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4394606" y="2017166"/>
            <a:ext cx="3384194" cy="38405"/>
          </a:xfrm>
          <a:prstGeom prst="rect">
            <a:avLst/>
          </a:prstGeom>
          <a:solidFill>
            <a:srgbClr val="CD7F32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0"/>
          <p:cNvSpPr txBox="1"/>
          <p:nvPr/>
        </p:nvSpPr>
        <p:spPr>
          <a:xfrm>
            <a:off x="7133234" y="2217420"/>
            <a:ext cx="5431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>
                    <a:alpha val="3000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4632350" y="225582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CD7F3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4712818" y="2360066"/>
            <a:ext cx="219456" cy="171907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127955" y="2303374"/>
            <a:ext cx="139263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45도 리클라인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4632350" y="2827325"/>
            <a:ext cx="2933395" cy="1714500"/>
          </a:xfrm>
          <a:prstGeom prst="roundRect">
            <a:avLst>
              <a:gd name="adj" fmla="val 2370"/>
            </a:avLst>
          </a:prstGeom>
          <a:solidFill>
            <a:srgbClr val="0D0D0D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l="-1586" r="-1586"/>
          <a:stretch/>
        </p:blipFill>
        <p:spPr>
          <a:xfrm>
            <a:off x="4641494" y="2836469"/>
            <a:ext cx="2915107" cy="169529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632350" y="4732020"/>
            <a:ext cx="3010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뇌파가 안정되면서도 의식을 잃지 않는 최적의 각도(Zero-Gravity)로 이완과 각성의 균형을 유도합니다.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4632350" y="5608015"/>
            <a:ext cx="29333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4632350" y="5770778"/>
            <a:ext cx="1410005" cy="552298"/>
          </a:xfrm>
          <a:prstGeom prst="roundRect">
            <a:avLst>
              <a:gd name="adj" fmla="val 1712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27"/>
          <p:cNvSpPr txBox="1"/>
          <p:nvPr/>
        </p:nvSpPr>
        <p:spPr>
          <a:xfrm>
            <a:off x="4746650" y="5846674"/>
            <a:ext cx="1257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Optimal Angle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28"/>
          <p:cNvSpPr txBox="1"/>
          <p:nvPr/>
        </p:nvSpPr>
        <p:spPr>
          <a:xfrm>
            <a:off x="4746650" y="6041441"/>
            <a:ext cx="1257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45 Degrees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29"/>
          <p:cNvSpPr/>
          <p:nvPr/>
        </p:nvSpPr>
        <p:spPr>
          <a:xfrm>
            <a:off x="6152998" y="5770778"/>
            <a:ext cx="1410005" cy="552298"/>
          </a:xfrm>
          <a:prstGeom prst="roundRect">
            <a:avLst>
              <a:gd name="adj" fmla="val 1712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30"/>
          <p:cNvSpPr txBox="1"/>
          <p:nvPr/>
        </p:nvSpPr>
        <p:spPr>
          <a:xfrm>
            <a:off x="6267298" y="5846674"/>
            <a:ext cx="1257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Support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31"/>
          <p:cNvSpPr txBox="1"/>
          <p:nvPr/>
        </p:nvSpPr>
        <p:spPr>
          <a:xfrm>
            <a:off x="6267298" y="6041441"/>
            <a:ext cx="1257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Ergonomic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Shape 32"/>
          <p:cNvSpPr/>
          <p:nvPr/>
        </p:nvSpPr>
        <p:spPr>
          <a:xfrm>
            <a:off x="8026603" y="2017166"/>
            <a:ext cx="3409798" cy="4543654"/>
          </a:xfrm>
          <a:prstGeom prst="roundRect">
            <a:avLst>
              <a:gd name="adj" fmla="val 1199"/>
            </a:avLst>
          </a:prstGeom>
          <a:solidFill>
            <a:srgbClr val="1A1A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Shape 33"/>
          <p:cNvSpPr/>
          <p:nvPr/>
        </p:nvSpPr>
        <p:spPr>
          <a:xfrm>
            <a:off x="8026603" y="2017166"/>
            <a:ext cx="3384194" cy="38405"/>
          </a:xfrm>
          <a:prstGeom prst="rect">
            <a:avLst/>
          </a:prstGeom>
          <a:solidFill>
            <a:srgbClr val="CD7F32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4"/>
          <p:cNvSpPr txBox="1"/>
          <p:nvPr/>
        </p:nvSpPr>
        <p:spPr>
          <a:xfrm>
            <a:off x="10766146" y="2217420"/>
            <a:ext cx="5431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>
                    <a:alpha val="3000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Shape 35"/>
          <p:cNvSpPr/>
          <p:nvPr/>
        </p:nvSpPr>
        <p:spPr>
          <a:xfrm>
            <a:off x="8264347" y="2255825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CD7F3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rcRect t="-842" b="-842"/>
          <a:stretch/>
        </p:blipFill>
        <p:spPr>
          <a:xfrm>
            <a:off x="8359445" y="2360066"/>
            <a:ext cx="190195" cy="171907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8759952" y="2303374"/>
            <a:ext cx="1463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시야 몰입 구조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Shape 37"/>
          <p:cNvSpPr/>
          <p:nvPr/>
        </p:nvSpPr>
        <p:spPr>
          <a:xfrm>
            <a:off x="8264347" y="2827325"/>
            <a:ext cx="2933395" cy="1714500"/>
          </a:xfrm>
          <a:prstGeom prst="roundRect">
            <a:avLst>
              <a:gd name="adj" fmla="val 2370"/>
            </a:avLst>
          </a:prstGeom>
          <a:solidFill>
            <a:srgbClr val="0D0D0D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rcRect l="-1586" r="-1586"/>
          <a:stretch/>
        </p:blipFill>
        <p:spPr>
          <a:xfrm>
            <a:off x="8274406" y="2836469"/>
            <a:ext cx="2915107" cy="1695298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264347" y="4732020"/>
            <a:ext cx="3010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정면 스크린과 주변 차폐 설계를 결합하여 시야 분산을 원천 제거, 가상 환경을 실재로 인식하게 합니다.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8264347" y="5608015"/>
            <a:ext cx="29333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8264347" y="5770778"/>
            <a:ext cx="1410005" cy="552298"/>
          </a:xfrm>
          <a:prstGeom prst="roundRect">
            <a:avLst>
              <a:gd name="adj" fmla="val 1712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Text 41"/>
          <p:cNvSpPr txBox="1"/>
          <p:nvPr/>
        </p:nvSpPr>
        <p:spPr>
          <a:xfrm>
            <a:off x="8378647" y="5846674"/>
            <a:ext cx="1257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Screen Type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Text 42"/>
          <p:cNvSpPr txBox="1"/>
          <p:nvPr/>
        </p:nvSpPr>
        <p:spPr>
          <a:xfrm>
            <a:off x="8378647" y="6041441"/>
            <a:ext cx="1257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Curved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9784994" y="5770778"/>
            <a:ext cx="1410005" cy="552298"/>
          </a:xfrm>
          <a:prstGeom prst="roundRect">
            <a:avLst>
              <a:gd name="adj" fmla="val 1712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Text 44"/>
          <p:cNvSpPr txBox="1"/>
          <p:nvPr/>
        </p:nvSpPr>
        <p:spPr>
          <a:xfrm>
            <a:off x="9899294" y="5846674"/>
            <a:ext cx="1257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Immersion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Text 45"/>
          <p:cNvSpPr txBox="1"/>
          <p:nvPr/>
        </p:nvSpPr>
        <p:spPr>
          <a:xfrm>
            <a:off x="9899294" y="6041441"/>
            <a:ext cx="1257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Full Field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66598" y="476402"/>
            <a:ext cx="10972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User Experience Flow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66598" y="752551"/>
            <a:ext cx="10994746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측정부터</a:t>
            </a:r>
            <a:r>
              <a:rPr lang="en-US" sz="28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검증까지,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28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과학적 데이터 기반의 회복 프로세스</a:t>
            </a:r>
            <a:endParaRPr lang="en-US" sz="2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3262579" y="2878531"/>
            <a:ext cx="95098" cy="1527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6048756" y="2878531"/>
            <a:ext cx="95098" cy="1527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8834018" y="2878531"/>
            <a:ext cx="95098" cy="1527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66598" y="4287622"/>
            <a:ext cx="5333695" cy="2095805"/>
          </a:xfrm>
          <a:prstGeom prst="roundRect">
            <a:avLst>
              <a:gd name="adj" fmla="val 2380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866851" y="4487875"/>
            <a:ext cx="4248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Adaptive Intervention Logic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866851" y="4740250"/>
            <a:ext cx="33814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사용자의 스트레스 피크(Peak) 감지 시, 자극 강도를 자동으로 조절하여 안정화를 유도하는 알고리즘 시각화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4998110" y="4487875"/>
            <a:ext cx="809244" cy="362102"/>
          </a:xfrm>
          <a:prstGeom prst="roundRect">
            <a:avLst>
              <a:gd name="adj" fmla="val 252526"/>
            </a:avLst>
          </a:prstGeom>
          <a:solidFill>
            <a:srgbClr val="CD7F32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5074006" y="4640580"/>
            <a:ext cx="47549" cy="57607"/>
          </a:xfrm>
          <a:prstGeom prst="roundRect">
            <a:avLst>
              <a:gd name="adj" fmla="val 961534"/>
            </a:avLst>
          </a:prstGeom>
          <a:solidFill>
            <a:srgbClr val="CD7F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5175504" y="4526280"/>
            <a:ext cx="6099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Algorithm Active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 t="-14" b="-14"/>
          <a:stretch/>
        </p:blipFill>
        <p:spPr>
          <a:xfrm>
            <a:off x="866851" y="5202936"/>
            <a:ext cx="4934102" cy="1429207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91402" y="4287622"/>
            <a:ext cx="5333695" cy="2095805"/>
          </a:xfrm>
          <a:prstGeom prst="roundRect">
            <a:avLst>
              <a:gd name="adj" fmla="val 2380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1"/>
          <p:cNvSpPr txBox="1"/>
          <p:nvPr/>
        </p:nvSpPr>
        <p:spPr>
          <a:xfrm>
            <a:off x="6391656" y="4487875"/>
            <a:ext cx="41440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Physiological Recovery Data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6391656" y="4740250"/>
            <a:ext cx="354512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세션 진행에 따른 교감신경(Stress) 저하와 심박변이도(HRV) </a:t>
            </a:r>
            <a:r>
              <a:rPr lang="en-US" sz="900" dirty="0" err="1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회복의</a:t>
            </a:r>
            <a:r>
              <a:rPr lang="en-US" sz="9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상관관계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10415016" y="4487875"/>
            <a:ext cx="914400" cy="362102"/>
          </a:xfrm>
          <a:prstGeom prst="roundRect">
            <a:avLst>
              <a:gd name="adj" fmla="val 252526"/>
            </a:avLst>
          </a:prstGeom>
          <a:solidFill>
            <a:srgbClr val="CD7F32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10490911" y="4640580"/>
            <a:ext cx="57607" cy="57607"/>
          </a:xfrm>
          <a:prstGeom prst="ellipse">
            <a:avLst/>
          </a:prstGeom>
          <a:solidFill>
            <a:srgbClr val="CD7F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10603382" y="4526280"/>
            <a:ext cx="7050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Clinical 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Verified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rcRect t="-14" b="-14"/>
          <a:stretch/>
        </p:blipFill>
        <p:spPr>
          <a:xfrm>
            <a:off x="6391656" y="5202936"/>
            <a:ext cx="4934102" cy="1429207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66598" y="1906524"/>
            <a:ext cx="2505456" cy="2095805"/>
          </a:xfrm>
          <a:prstGeom prst="roundRect">
            <a:avLst>
              <a:gd name="adj" fmla="val 2380"/>
            </a:avLst>
          </a:prstGeom>
          <a:solidFill>
            <a:srgbClr val="1A1A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866851" y="2106778"/>
            <a:ext cx="21899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 01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866851" y="2378354"/>
            <a:ext cx="342900" cy="247802"/>
          </a:xfrm>
          <a:prstGeom prst="roundRect">
            <a:avLst>
              <a:gd name="adj" fmla="val 113540"/>
            </a:avLst>
          </a:prstGeom>
          <a:solidFill>
            <a:srgbClr val="CD7F3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61949" y="2425903"/>
            <a:ext cx="152705" cy="15270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66851" y="2740457"/>
            <a:ext cx="218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측정 (Measure)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0"/>
          <p:cNvSpPr txBox="1"/>
          <p:nvPr/>
        </p:nvSpPr>
        <p:spPr>
          <a:xfrm>
            <a:off x="866851" y="3044952"/>
            <a:ext cx="21817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HRV(심박변이도), 호흡수, </a:t>
            </a:r>
            <a:r>
              <a:rPr lang="ko-KR" altLang="en-US" sz="9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감정상태 </a:t>
            </a:r>
            <a:r>
              <a:rPr lang="en-US" sz="9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 사용자의 생리적 스트레스 지표를 정밀 센서로 실시간 감지합니다.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866851" y="3601822"/>
            <a:ext cx="2104949" cy="200254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866851" y="3601822"/>
            <a:ext cx="2105863" cy="200254"/>
          </a:xfrm>
          <a:prstGeom prst="rect">
            <a:avLst/>
          </a:prstGeom>
          <a:solidFill>
            <a:srgbClr val="CD7F32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Input: Bio-Signal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3452774" y="1906524"/>
            <a:ext cx="2505456" cy="2095805"/>
          </a:xfrm>
          <a:prstGeom prst="roundRect">
            <a:avLst>
              <a:gd name="adj" fmla="val 2380"/>
            </a:avLst>
          </a:prstGeom>
          <a:solidFill>
            <a:srgbClr val="1A1A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24"/>
          <p:cNvSpPr txBox="1"/>
          <p:nvPr/>
        </p:nvSpPr>
        <p:spPr>
          <a:xfrm>
            <a:off x="3653028" y="2106778"/>
            <a:ext cx="21899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 02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3653028" y="2378354"/>
            <a:ext cx="342900" cy="247802"/>
          </a:xfrm>
          <a:prstGeom prst="roundRect">
            <a:avLst>
              <a:gd name="adj" fmla="val 113540"/>
            </a:avLst>
          </a:prstGeom>
          <a:solidFill>
            <a:srgbClr val="CD7F3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748126" y="2425903"/>
            <a:ext cx="152705" cy="15270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3653028" y="2740457"/>
            <a:ext cx="218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개입 (Intervention)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27"/>
          <p:cNvSpPr txBox="1"/>
          <p:nvPr/>
        </p:nvSpPr>
        <p:spPr>
          <a:xfrm>
            <a:off x="3653028" y="3044952"/>
            <a:ext cx="21817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 데이터에 반응하여 조명, 사운드, </a:t>
            </a:r>
            <a:r>
              <a:rPr lang="en-US" sz="900" dirty="0" err="1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진동</a:t>
            </a:r>
            <a:r>
              <a:rPr lang="en-US" sz="9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900" dirty="0" err="1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주파수를</a:t>
            </a:r>
            <a:r>
              <a:rPr lang="en-US" sz="9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동적으로 조절하는 적응형 프로토콜을 실행합니다.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Shape 28"/>
          <p:cNvSpPr/>
          <p:nvPr/>
        </p:nvSpPr>
        <p:spPr>
          <a:xfrm>
            <a:off x="3653028" y="3601822"/>
            <a:ext cx="2104949" cy="200254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29"/>
          <p:cNvSpPr/>
          <p:nvPr/>
        </p:nvSpPr>
        <p:spPr>
          <a:xfrm>
            <a:off x="3653028" y="3601822"/>
            <a:ext cx="2105863" cy="200254"/>
          </a:xfrm>
          <a:prstGeom prst="rect">
            <a:avLst/>
          </a:prstGeom>
          <a:solidFill>
            <a:srgbClr val="CD7F32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Action: Adaptive Logic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6238951" y="1906524"/>
            <a:ext cx="2505456" cy="2095805"/>
          </a:xfrm>
          <a:prstGeom prst="roundRect">
            <a:avLst>
              <a:gd name="adj" fmla="val 2380"/>
            </a:avLst>
          </a:prstGeom>
          <a:solidFill>
            <a:srgbClr val="1A1A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1"/>
          <p:cNvSpPr txBox="1"/>
          <p:nvPr/>
        </p:nvSpPr>
        <p:spPr>
          <a:xfrm>
            <a:off x="6439205" y="2106778"/>
            <a:ext cx="21899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 03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Shape 32"/>
          <p:cNvSpPr/>
          <p:nvPr/>
        </p:nvSpPr>
        <p:spPr>
          <a:xfrm>
            <a:off x="6439205" y="2378354"/>
            <a:ext cx="342900" cy="247802"/>
          </a:xfrm>
          <a:prstGeom prst="roundRect">
            <a:avLst>
              <a:gd name="adj" fmla="val 113540"/>
            </a:avLst>
          </a:prstGeom>
          <a:solidFill>
            <a:srgbClr val="CD7F3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34302" y="2425903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439205" y="2740457"/>
            <a:ext cx="218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회복 (Restoration)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Text 34"/>
          <p:cNvSpPr txBox="1"/>
          <p:nvPr/>
        </p:nvSpPr>
        <p:spPr>
          <a:xfrm>
            <a:off x="6439205" y="3044952"/>
            <a:ext cx="21817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부교감 신경 활성화를 유도하여 뇌파(Alpha/Theta) 안정화 및 심박 동기화를 달성합니다.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Shape 35"/>
          <p:cNvSpPr/>
          <p:nvPr/>
        </p:nvSpPr>
        <p:spPr>
          <a:xfrm>
            <a:off x="6439205" y="3601822"/>
            <a:ext cx="2104949" cy="200254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36"/>
          <p:cNvSpPr/>
          <p:nvPr/>
        </p:nvSpPr>
        <p:spPr>
          <a:xfrm>
            <a:off x="6439205" y="3601822"/>
            <a:ext cx="2105863" cy="200254"/>
          </a:xfrm>
          <a:prstGeom prst="rect">
            <a:avLst/>
          </a:prstGeom>
          <a:solidFill>
            <a:srgbClr val="CD7F32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State: Deep Relax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Shape 37"/>
          <p:cNvSpPr/>
          <p:nvPr/>
        </p:nvSpPr>
        <p:spPr>
          <a:xfrm>
            <a:off x="9025128" y="1906524"/>
            <a:ext cx="2505456" cy="2095805"/>
          </a:xfrm>
          <a:prstGeom prst="roundRect">
            <a:avLst>
              <a:gd name="adj" fmla="val 2380"/>
            </a:avLst>
          </a:prstGeom>
          <a:solidFill>
            <a:srgbClr val="1A1A1A"/>
          </a:solidFill>
          <a:ln w="12700">
            <a:solidFill>
              <a:srgbClr val="CD7F3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Text 38"/>
          <p:cNvSpPr txBox="1"/>
          <p:nvPr/>
        </p:nvSpPr>
        <p:spPr>
          <a:xfrm>
            <a:off x="9225382" y="2106778"/>
            <a:ext cx="218998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STEP 04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9225382" y="2378354"/>
            <a:ext cx="342900" cy="247802"/>
          </a:xfrm>
          <a:prstGeom prst="roundRect">
            <a:avLst>
              <a:gd name="adj" fmla="val 113540"/>
            </a:avLst>
          </a:prstGeom>
          <a:solidFill>
            <a:srgbClr val="CD7F32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20479" y="2425903"/>
            <a:ext cx="152705" cy="152705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9225382" y="2740457"/>
            <a:ext cx="2189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 (Verification)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Text 41"/>
          <p:cNvSpPr txBox="1"/>
          <p:nvPr/>
        </p:nvSpPr>
        <p:spPr>
          <a:xfrm>
            <a:off x="9225382" y="3044952"/>
            <a:ext cx="21817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세션 종료 즉시 사용 전후의 생체 데이터 변화를 시각화하여 회복 효과를 정량적으로 증명합니다.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Shape 42"/>
          <p:cNvSpPr/>
          <p:nvPr/>
        </p:nvSpPr>
        <p:spPr>
          <a:xfrm>
            <a:off x="9225382" y="3601822"/>
            <a:ext cx="2104949" cy="200254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Text 43"/>
          <p:cNvSpPr/>
          <p:nvPr/>
        </p:nvSpPr>
        <p:spPr>
          <a:xfrm>
            <a:off x="9225382" y="3601822"/>
            <a:ext cx="2105863" cy="200254"/>
          </a:xfrm>
          <a:prstGeom prst="rect">
            <a:avLst/>
          </a:prstGeom>
          <a:solidFill>
            <a:srgbClr val="CD7F32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Result: Data Report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61100" y="0"/>
            <a:ext cx="6096305" cy="6858000"/>
          </a:xfrm>
          <a:custGeom>
            <a:avLst/>
            <a:gdLst/>
            <a:ahLst/>
            <a:cxnLst/>
            <a:rect l="l" t="t" r="r" b="b"/>
            <a:pathLst>
              <a:path w="6096305" h="6858000">
                <a:moveTo>
                  <a:pt x="1219261" y="0"/>
                </a:moveTo>
                <a:lnTo>
                  <a:pt x="6096305" y="0"/>
                </a:lnTo>
                <a:lnTo>
                  <a:pt x="609630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D7F32">
              <a:alpha val="2000"/>
            </a:srgbClr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87404" y="2245767"/>
            <a:ext cx="3374139" cy="4114799"/>
          </a:xfrm>
          <a:prstGeom prst="roundRect">
            <a:avLst>
              <a:gd name="adj" fmla="val 899"/>
            </a:avLst>
          </a:prstGeom>
          <a:solidFill>
            <a:srgbClr val="1A1A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1695" y="2268626"/>
            <a:ext cx="3409798" cy="38405"/>
          </a:xfrm>
          <a:prstGeom prst="roundRect">
            <a:avLst>
              <a:gd name="adj" fmla="val 7980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132734" y="2211934"/>
            <a:ext cx="1019556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>
                    <a:alpha val="3000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6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94605" y="2268626"/>
            <a:ext cx="3418907" cy="4114799"/>
          </a:xfrm>
          <a:prstGeom prst="roundRect">
            <a:avLst>
              <a:gd name="adj" fmla="val 899"/>
            </a:avLst>
          </a:prstGeom>
          <a:solidFill>
            <a:srgbClr val="1A1A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94606" y="2268626"/>
            <a:ext cx="3409798" cy="38405"/>
          </a:xfrm>
          <a:prstGeom prst="roundRect">
            <a:avLst>
              <a:gd name="adj" fmla="val 7980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764731" y="2211934"/>
            <a:ext cx="1019556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>
                    <a:alpha val="3000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6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26603" y="2268626"/>
            <a:ext cx="3403702" cy="4114799"/>
          </a:xfrm>
          <a:prstGeom prst="roundRect">
            <a:avLst>
              <a:gd name="adj" fmla="val 899"/>
            </a:avLst>
          </a:prstGeom>
          <a:solidFill>
            <a:srgbClr val="1A1A1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26603" y="2268626"/>
            <a:ext cx="3409798" cy="38405"/>
          </a:xfrm>
          <a:prstGeom prst="roundRect">
            <a:avLst>
              <a:gd name="adj" fmla="val 79808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396728" y="2211934"/>
            <a:ext cx="1019556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>
                    <a:alpha val="3000"/>
                  </a:srgb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6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 l="-170" r="-170"/>
          <a:stretch/>
        </p:blipFill>
        <p:spPr>
          <a:xfrm>
            <a:off x="1095451" y="2630729"/>
            <a:ext cx="2743200" cy="161940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00354" y="4535424"/>
            <a:ext cx="301294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All-in-One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16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다중 모드 플랫폼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000354" y="5194706"/>
            <a:ext cx="30102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단일 목적의 명상 앱이나 수면 기기와 달리, 신스돔은 사이키델릭 시각 경험, 깊은 이완, 수면 유도 등 5가지 핵심 웰니스 영역을 하나의 장치로 커버합니다.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007775" y="5894909"/>
            <a:ext cx="29333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000354" y="6461150"/>
            <a:ext cx="504749" cy="256946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00354" y="5952516"/>
            <a:ext cx="505663" cy="257861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Visual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556309" y="6461150"/>
            <a:ext cx="533095" cy="256946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593054" y="5959144"/>
            <a:ext cx="534010" cy="257861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Haptic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2140610" y="6461150"/>
            <a:ext cx="495605" cy="256946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219134" y="5959144"/>
            <a:ext cx="495605" cy="257861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Audio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 l="-170" r="-170"/>
          <a:stretch/>
        </p:blipFill>
        <p:spPr>
          <a:xfrm>
            <a:off x="4727448" y="2630729"/>
            <a:ext cx="2743200" cy="161940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632350" y="4535424"/>
            <a:ext cx="301294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스트레스</a:t>
            </a: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지수 개선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16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압도적 회복 효과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22"/>
          <p:cNvSpPr txBox="1"/>
          <p:nvPr/>
        </p:nvSpPr>
        <p:spPr>
          <a:xfrm>
            <a:off x="4632350" y="5194706"/>
            <a:ext cx="305582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명상 앱 대비 3.5배 높은 스트레스 지수 개선 효과(심박변이도 측정)를 임상으로 </a:t>
            </a:r>
            <a:r>
              <a:rPr lang="en-US" sz="1100" dirty="0" err="1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확인했습니다</a:t>
            </a: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사용자는</a:t>
            </a: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모호한 기분이 아닌 확실한 수치 변화를 경험합니다.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4646523" y="5883143"/>
            <a:ext cx="29333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4632350" y="6461150"/>
            <a:ext cx="733349" cy="256946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4654754" y="5952516"/>
            <a:ext cx="734263" cy="257861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HRV +45%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5415991" y="6461150"/>
            <a:ext cx="828446" cy="256946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5474514" y="5948979"/>
            <a:ext cx="829361" cy="257861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Stress -32%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rcRect l="-170" r="-170"/>
          <a:stretch/>
        </p:blipFill>
        <p:spPr>
          <a:xfrm>
            <a:off x="8360359" y="2630729"/>
            <a:ext cx="2743200" cy="1619402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8264347" y="4535424"/>
            <a:ext cx="301294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기술적</a:t>
            </a: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진입장벽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16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복제 불가능한 구조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29"/>
          <p:cNvSpPr txBox="1"/>
          <p:nvPr/>
        </p:nvSpPr>
        <p:spPr>
          <a:xfrm>
            <a:off x="8264347" y="5194706"/>
            <a:ext cx="30102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대형 돔 구조, 4D 햅틱, 통합 제어 OS의 </a:t>
            </a:r>
            <a:r>
              <a:rPr lang="en-US" sz="1100" dirty="0" err="1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결합은</a:t>
            </a: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단순</a:t>
            </a: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소프트웨어나 웨어러블이 모방할 수 </a:t>
            </a:r>
            <a:r>
              <a:rPr lang="en-US" sz="1100" dirty="0" err="1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없는</a:t>
            </a: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물리적</a:t>
            </a: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en-US" sz="1100" dirty="0" err="1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기술적</a:t>
            </a: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강점</a:t>
            </a:r>
            <a:r>
              <a:rPr lang="en-US" sz="11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구축합니다.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8258251" y="5878571"/>
            <a:ext cx="29333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Shape 31"/>
          <p:cNvSpPr/>
          <p:nvPr/>
        </p:nvSpPr>
        <p:spPr>
          <a:xfrm>
            <a:off x="8264347" y="6461150"/>
            <a:ext cx="809244" cy="256946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8264347" y="5956296"/>
            <a:ext cx="810158" cy="257861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Hardware IP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Shape 33"/>
          <p:cNvSpPr/>
          <p:nvPr/>
        </p:nvSpPr>
        <p:spPr>
          <a:xfrm>
            <a:off x="9124798" y="6461150"/>
            <a:ext cx="886054" cy="256946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9178882" y="5956296"/>
            <a:ext cx="886054" cy="257861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Integrated OS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5"/>
          <p:cNvSpPr txBox="1"/>
          <p:nvPr/>
        </p:nvSpPr>
        <p:spPr>
          <a:xfrm>
            <a:off x="761695" y="571500"/>
            <a:ext cx="107826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Key Differentiators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6"/>
          <p:cNvSpPr txBox="1"/>
          <p:nvPr/>
        </p:nvSpPr>
        <p:spPr>
          <a:xfrm>
            <a:off x="761695" y="886054"/>
            <a:ext cx="1084021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압도적</a:t>
            </a:r>
            <a:r>
              <a:rPr lang="en-US" sz="3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기술 격차와</a:t>
            </a: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36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기반 가치</a:t>
            </a: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25105" y="0"/>
            <a:ext cx="426750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32225" r="32225"/>
          <a:stretch/>
        </p:blipFill>
        <p:spPr>
          <a:xfrm>
            <a:off x="7925105" y="0"/>
            <a:ext cx="4267505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25105" y="0"/>
            <a:ext cx="4267505" cy="6858000"/>
          </a:xfrm>
          <a:prstGeom prst="rect">
            <a:avLst/>
          </a:prstGeom>
          <a:solidFill>
            <a:srgbClr val="CD7F32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-952805" y="-952805"/>
            <a:ext cx="4762195" cy="4762195"/>
          </a:xfrm>
          <a:prstGeom prst="ellipse">
            <a:avLst/>
          </a:prstGeom>
          <a:solidFill>
            <a:srgbClr val="CD7F32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61695" y="476402"/>
            <a:ext cx="6515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Partnership &amp; Next Steps</a:t>
            </a:r>
            <a:endParaRPr lang="en-US" sz="1000" spc="12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61695" y="790956"/>
            <a:ext cx="6572707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함께</a:t>
            </a:r>
            <a:r>
              <a:rPr lang="en-US" sz="3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만드는</a:t>
            </a: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3600" b="1" dirty="0">
                <a:solidFill>
                  <a:srgbClr val="CD7F3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웰니스의 미래</a:t>
            </a:r>
            <a:endParaRPr lang="en-US" sz="3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61695" y="1948586"/>
            <a:ext cx="5791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신스돔은 단순한 기기가 아닌 공간의 가치를 높이는 솔루션입니다.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PoC, 파일럿 프로그램, 공간 도입 등 다양한 협업을 제안해 주십시오. 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61695" y="2691994"/>
            <a:ext cx="2009851" cy="141000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61695" y="2691994"/>
            <a:ext cx="28346" cy="1410005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981151" y="3382366"/>
            <a:ext cx="16770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Product Director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981151" y="3610966"/>
            <a:ext cx="172821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송서현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958998" y="2691994"/>
            <a:ext cx="2009851" cy="141000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958998" y="2691994"/>
            <a:ext cx="28346" cy="1410005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3178454" y="3282696"/>
            <a:ext cx="16770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Contact Info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3178454" y="3511296"/>
            <a:ext cx="166420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+82 10-8496-1440 </a:t>
            </a:r>
            <a:r>
              <a:rPr lang="en-US" sz="900" dirty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songsh_1014@naver.com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156302" y="2691994"/>
            <a:ext cx="2009851" cy="141000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156302" y="2691994"/>
            <a:ext cx="28346" cy="1410005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5374843" y="3282696"/>
            <a:ext cx="16770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75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Headquarters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5374843" y="3511296"/>
            <a:ext cx="166420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서울시</a:t>
            </a:r>
            <a:r>
              <a:rPr lang="en-US" sz="11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성동구 성수1동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태성빌딩 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981151" y="3015691"/>
            <a:ext cx="171907" cy="190195"/>
          </a:xfrm>
          <a:prstGeom prst="rect">
            <a:avLst/>
          </a:prstGeom>
        </p:spPr>
      </p:pic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78454" y="2916022"/>
            <a:ext cx="190195" cy="190195"/>
          </a:xfrm>
          <a:prstGeom prst="rect">
            <a:avLst/>
          </a:prstGeom>
        </p:spPr>
      </p:pic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374843" y="2915107"/>
            <a:ext cx="142646" cy="190195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61695" y="4387291"/>
            <a:ext cx="6400800" cy="838505"/>
          </a:xfrm>
          <a:prstGeom prst="roundRect">
            <a:avLst>
              <a:gd name="adj" fmla="val 4957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1057046" y="4613148"/>
            <a:ext cx="381305" cy="381305"/>
          </a:xfrm>
          <a:prstGeom prst="ellipse">
            <a:avLst/>
          </a:prstGeom>
          <a:solidFill>
            <a:srgbClr val="CD7F3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1190549" y="4727448"/>
            <a:ext cx="114300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28546" y="4587545"/>
            <a:ext cx="3020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 백서 및 데이터 리포트 요청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3"/>
          <p:cNvSpPr txBox="1"/>
          <p:nvPr/>
        </p:nvSpPr>
        <p:spPr>
          <a:xfrm>
            <a:off x="1628546" y="4834433"/>
            <a:ext cx="34299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임상 데이터 사례, 설치 가이드, 안전 규격 인증서 제공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 l="-760" r="-760"/>
          <a:stretch/>
        </p:blipFill>
        <p:spPr>
          <a:xfrm>
            <a:off x="6715354" y="4696358"/>
            <a:ext cx="152705" cy="171907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761695" y="5928970"/>
            <a:ext cx="64008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25"/>
          <p:cNvSpPr txBox="1"/>
          <p:nvPr/>
        </p:nvSpPr>
        <p:spPr>
          <a:xfrm>
            <a:off x="761695" y="6129223"/>
            <a:ext cx="301569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Copyright © 2026 SynthDome Inc. All rights reserved.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26"/>
          <p:cNvSpPr txBox="1"/>
          <p:nvPr/>
        </p:nvSpPr>
        <p:spPr>
          <a:xfrm>
            <a:off x="5490972" y="6129223"/>
            <a:ext cx="79369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Privacy Policy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27"/>
          <p:cNvSpPr txBox="1"/>
          <p:nvPr/>
        </p:nvSpPr>
        <p:spPr>
          <a:xfrm>
            <a:off x="6377026" y="6129223"/>
            <a:ext cx="94091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Terms of Service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873</Words>
  <Application>Microsoft Office PowerPoint</Application>
  <PresentationFormat>와이드스크린</PresentationFormat>
  <Paragraphs>176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songsh_1014@naver.com</cp:lastModifiedBy>
  <cp:revision>2</cp:revision>
  <dcterms:created xsi:type="dcterms:W3CDTF">2026-02-11T02:05:06Z</dcterms:created>
  <dcterms:modified xsi:type="dcterms:W3CDTF">2026-02-24T05:41:17Z</dcterms:modified>
</cp:coreProperties>
</file>